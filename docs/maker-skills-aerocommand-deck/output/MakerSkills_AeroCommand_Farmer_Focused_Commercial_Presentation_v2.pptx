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5852160" y="-1737360"/>
            <a:ext cx="7132320" cy="7132320"/>
          </a:xfrm>
          <a:prstGeom prst="arc">
            <a:avLst/>
          </a:prstGeom>
          <a:solidFill>
            <a:srgbClr val="0E7C86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20000">
            <a:off x="7178040" y="960120"/>
            <a:ext cx="4389120" cy="2377440"/>
          </a:xfrm>
          <a:prstGeom prst="chevron">
            <a:avLst/>
          </a:prstGeom>
          <a:solidFill>
            <a:srgbClr val="35B88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4416552"/>
            <a:ext cx="4343400" cy="-2103120"/>
          </a:xfrm>
          <a:prstGeom prst="line">
            <a:avLst/>
          </a:prstGeom>
          <a:noFill/>
          <a:ln w="27940">
            <a:solidFill>
              <a:srgbClr val="B9E769">
                <a:alpha val="88000"/>
              </a:srgbClr>
            </a:solidFill>
            <a:prstDash val="solid"/>
            <a:headEnd type="none"/>
            <a:tailEnd type="triangle"/>
          </a:ln>
        </p:spPr>
      </p:sp>
      <p:pic>
        <p:nvPicPr>
          <p:cNvPr id="6" name="Image 0" descr="C:\Web_UI\pi_group\dashboard\public\landing\logos\makerski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30352"/>
            <a:ext cx="114300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B9E769"/>
                </a:solidFill>
              </a:rPr>
              <a:t>MAKER SKILLS STARTUP PRESENTATION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658368" y="18288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AeroCommand</a:t>
            </a:r>
            <a:endParaRPr lang="en-US" sz="4300" dirty="0"/>
          </a:p>
        </p:txBody>
      </p:sp>
      <p:sp>
        <p:nvSpPr>
          <p:cNvPr id="9" name="Text 6"/>
          <p:cNvSpPr/>
          <p:nvPr/>
        </p:nvSpPr>
        <p:spPr>
          <a:xfrm>
            <a:off x="658368" y="2788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9E9EC"/>
                </a:solidFill>
              </a:rPr>
              <a:t>A practical drone monitoring service for farms, fields, and cooperatives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58368" y="5989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5C8D0"/>
                </a:solidFill>
              </a:rPr>
              <a:t>Commercial presentation |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INTRODUCTION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Maker Skills builds field technology farmers can actually use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</a:rPr>
              <a:t>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14600" y="2221992"/>
            <a:ext cx="658368" cy="0"/>
          </a:xfrm>
          <a:prstGeom prst="line">
            <a:avLst/>
          </a:prstGeom>
          <a:noFill/>
          <a:ln w="21590">
            <a:solidFill>
              <a:srgbClr val="FF7A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201168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32238"/>
                </a:solidFill>
              </a:rPr>
              <a:t>A startup focused on smart agriculture, drones, and mobile IoT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22960" y="3172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</a:rPr>
              <a:t>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14600" y="3337560"/>
            <a:ext cx="658368" cy="0"/>
          </a:xfrm>
          <a:prstGeom prst="line">
            <a:avLst/>
          </a:prstGeom>
          <a:noFill/>
          <a:ln w="21590">
            <a:solidFill>
              <a:srgbClr val="FF7A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12724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32238"/>
                </a:solidFill>
              </a:rPr>
              <a:t>AeroCommand, a web and mobile platform for drone-assisted farm monitoring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22960" y="42885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</a:rPr>
              <a:t>Purpose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4453128"/>
            <a:ext cx="658368" cy="0"/>
          </a:xfrm>
          <a:prstGeom prst="line">
            <a:avLst/>
          </a:prstGeom>
          <a:noFill/>
          <a:ln w="21590">
            <a:solidFill>
              <a:srgbClr val="FF7A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24281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32238"/>
                </a:solidFill>
              </a:rPr>
              <a:t>Show how the product saves time, improves visibility, and becomes a service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0" y="5961888"/>
            <a:ext cx="12191695" cy="301752"/>
          </a:xfrm>
          <a:prstGeom prst="rect">
            <a:avLst/>
          </a:prstGeom>
          <a:solidFill>
            <a:srgbClr val="0E7C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PROBLEM / STORYTELLING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farmer cannot be everywhere at once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5897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07083"/>
                </a:solidFill>
              </a:rPr>
              <a:t>Large fields, livestock areas, irrigation lines, and equipment zones are hard to check every day.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2642616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5786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A broken fence may be noticed only after animals escape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841248" y="317296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31089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Dry zones or crop stress can spread before anyone sees them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841248" y="3703320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6393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Field checks consume hours of walking, driving, and fuel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841248" y="4233672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41696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The farm owner often has no live view when away from the land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7406640" y="1325880"/>
            <a:ext cx="3108960" cy="4251960"/>
          </a:xfrm>
          <a:prstGeom prst="rect">
            <a:avLst/>
          </a:prstGeom>
          <a:solidFill>
            <a:srgbClr val="071B2E"/>
          </a:solidFill>
          <a:ln w="12700">
            <a:solidFill>
              <a:srgbClr val="071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5552" y="5029200"/>
            <a:ext cx="2084832" cy="-2880360"/>
          </a:xfrm>
          <a:prstGeom prst="line">
            <a:avLst/>
          </a:prstGeom>
          <a:noFill/>
          <a:ln w="31750">
            <a:solidFill>
              <a:srgbClr val="B9E7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82128" y="3063240"/>
            <a:ext cx="1938528" cy="502920"/>
          </a:xfrm>
          <a:prstGeom prst="line">
            <a:avLst/>
          </a:prstGeom>
          <a:noFill/>
          <a:ln w="22860">
            <a:solidFill>
              <a:srgbClr val="FF7A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73568" y="4023360"/>
            <a:ext cx="1737360" cy="-274320"/>
          </a:xfrm>
          <a:prstGeom prst="line">
            <a:avLst/>
          </a:prstGeom>
          <a:noFill/>
          <a:ln w="22860">
            <a:solidFill>
              <a:srgbClr val="35B8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E769"/>
                </a:solidFill>
              </a:rPr>
              <a:t>Story hook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5010912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6F4F1"/>
                </a:solidFill>
              </a:rPr>
              <a:t>Video idea: morning field check by truck vs. one drone mission visible on the phone.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PROBLEM / STORYTELLING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Delayed detection turns small issues into expensive losses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5897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07083"/>
                </a:solidFill>
              </a:rPr>
              <a:t>Most farm problems start small. The cost grows when the information arrives late.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2642616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5786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Livestock leaves a pasture through a small opening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841248" y="317296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31089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Irrigation failure creates dry patches before the next visit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841248" y="3703320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6393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Disease or pests spread from one visible area to a whole row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841248" y="4233672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41696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The farmer spends time checking areas that are still normal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7406640" y="1325880"/>
            <a:ext cx="3108960" cy="4251960"/>
          </a:xfrm>
          <a:prstGeom prst="rect">
            <a:avLst/>
          </a:prstGeom>
          <a:solidFill>
            <a:srgbClr val="071B2E"/>
          </a:solidFill>
          <a:ln w="12700">
            <a:solidFill>
              <a:srgbClr val="071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5552" y="5029200"/>
            <a:ext cx="2084832" cy="-2880360"/>
          </a:xfrm>
          <a:prstGeom prst="line">
            <a:avLst/>
          </a:prstGeom>
          <a:noFill/>
          <a:ln w="31750">
            <a:solidFill>
              <a:srgbClr val="B9E7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82128" y="3063240"/>
            <a:ext cx="1938528" cy="502920"/>
          </a:xfrm>
          <a:prstGeom prst="line">
            <a:avLst/>
          </a:prstGeom>
          <a:noFill/>
          <a:ln w="22860">
            <a:solidFill>
              <a:srgbClr val="FF7A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73568" y="4023360"/>
            <a:ext cx="1737360" cy="-274320"/>
          </a:xfrm>
          <a:prstGeom prst="line">
            <a:avLst/>
          </a:prstGeom>
          <a:noFill/>
          <a:ln w="22860">
            <a:solidFill>
              <a:srgbClr val="35B8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E769"/>
                </a:solidFill>
              </a:rPr>
              <a:t>Story hook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5010912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6F4F1"/>
                </a:solidFill>
              </a:rPr>
              <a:t>Short scene: one missed field problem becomes a repair, treatment, or lost-animal event.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FARMER WORKFLOW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daily job: inspect more land with less uncertainty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731520" cy="0"/>
          </a:xfrm>
          <a:prstGeom prst="line">
            <a:avLst/>
          </a:prstGeom>
          <a:noFill/>
          <a:ln w="50800">
            <a:solidFill>
              <a:srgbClr val="35B8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Morning check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Launch or schedule a route over fields, fences, or livestock zones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731520" cy="0"/>
          </a:xfrm>
          <a:prstGeom prst="line">
            <a:avLst/>
          </a:prstGeom>
          <a:noFill/>
          <a:ln w="508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Live 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See drone status, location, battery, and mission progress from the dashboard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49808" y="4251960"/>
            <a:ext cx="731520" cy="0"/>
          </a:xfrm>
          <a:prstGeom prst="line">
            <a:avLst/>
          </a:prstGeom>
          <a:noFill/>
          <a:ln w="50800">
            <a:solidFill>
              <a:srgbClr val="FF7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Alert moment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Receive a signal when something needs attention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00800" y="4251960"/>
            <a:ext cx="731520" cy="0"/>
          </a:xfrm>
          <a:prstGeom prst="line">
            <a:avLst/>
          </a:prstGeom>
          <a:noFill/>
          <a:ln w="50800">
            <a:solidFill>
              <a:srgbClr val="F6C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Action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Send a worker, adjust irrigation, inspect a zone, or repeat the mission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YOUR SOLUTION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AeroCommand turns drones into a farm monitoring service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682496" y="1920240"/>
            <a:ext cx="960120" cy="9601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21488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49808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Drone in the field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35661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07083"/>
                </a:solidFill>
              </a:rPr>
              <a:t>Collects position, battery, camera, and mission status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3108960" y="2395728"/>
            <a:ext cx="1005840" cy="0"/>
          </a:xfrm>
          <a:prstGeom prst="line">
            <a:avLst/>
          </a:prstGeom>
          <a:noFill/>
          <a:ln w="25400">
            <a:solidFill>
              <a:srgbClr val="D8E4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30368" y="1920240"/>
            <a:ext cx="960120" cy="960120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13832" y="21488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297680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Cloud platform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35661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07083"/>
                </a:solidFill>
              </a:rPr>
              <a:t>Stores history, manages missions, commands, alerts, and live updates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656832" y="2395728"/>
            <a:ext cx="1005840" cy="0"/>
          </a:xfrm>
          <a:prstGeom prst="line">
            <a:avLst/>
          </a:prstGeom>
          <a:noFill/>
          <a:ln w="25400">
            <a:solidFill>
              <a:srgbClr val="D8E4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78240" y="1920240"/>
            <a:ext cx="960120" cy="96012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1704" y="21488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45552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Farmer interface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45552" y="35661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07083"/>
                </a:solidFill>
              </a:rPr>
              <a:t>Web dashboard and mobile app for decisions in the office or on-site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914400" y="4919472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992624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Live map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43400" y="4919472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4992624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Scheduled routes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0" y="4919472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2128" y="4992624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Alerts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14400" y="5394960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5468112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Mobile access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43400" y="5394960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53128" y="5468112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AI vision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72400" y="5394960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2128" y="5468112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History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MAIN FEATURES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farm visibility without a technical control 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731520" cy="0"/>
          </a:xfrm>
          <a:prstGeom prst="line">
            <a:avLst/>
          </a:prstGeom>
          <a:noFill/>
          <a:ln w="50800">
            <a:solidFill>
              <a:srgbClr val="35B8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Fleet map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Know where each drone is and whether it is ready, flying, or offline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731520" cy="0"/>
          </a:xfrm>
          <a:prstGeom prst="line">
            <a:avLst/>
          </a:prstGeom>
          <a:noFill/>
          <a:ln w="508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Telemetry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Battery, GPS, speed, altitude, signal, and vehicle health in real time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49808" y="4251960"/>
            <a:ext cx="731520" cy="0"/>
          </a:xfrm>
          <a:prstGeom prst="line">
            <a:avLst/>
          </a:prstGeom>
          <a:noFill/>
          <a:ln w="50800">
            <a:solidFill>
              <a:srgbClr val="FF7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Web + mobile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Use the dashboard from the office and the phone from the field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00800" y="4251960"/>
            <a:ext cx="731520" cy="0"/>
          </a:xfrm>
          <a:prstGeom prst="line">
            <a:avLst/>
          </a:prstGeom>
          <a:noFill/>
          <a:ln w="50800">
            <a:solidFill>
              <a:srgbClr val="F6C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History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Review past flights, alerts, and vehicle activity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MAIN FEATURES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missions make farm checks repeatable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731520" cy="0"/>
          </a:xfrm>
          <a:prstGeom prst="line">
            <a:avLst/>
          </a:prstGeom>
          <a:noFill/>
          <a:ln w="50800">
            <a:solidFill>
              <a:srgbClr val="35B8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Field routes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Plan coverage paths for olive groves, cereals, orchards, or pastures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731520" cy="0"/>
          </a:xfrm>
          <a:prstGeom prst="line">
            <a:avLst/>
          </a:prstGeom>
          <a:noFill/>
          <a:ln w="508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Fence lines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Repeat perimeter inspection without driving the whole boundary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49808" y="4251960"/>
            <a:ext cx="731520" cy="0"/>
          </a:xfrm>
          <a:prstGeom prst="line">
            <a:avLst/>
          </a:prstGeom>
          <a:noFill/>
          <a:ln w="50800">
            <a:solidFill>
              <a:srgbClr val="FF7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Irrigation zones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Check dry areas and water distribution from above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00800" y="4251960"/>
            <a:ext cx="731520" cy="0"/>
          </a:xfrm>
          <a:prstGeom prst="line">
            <a:avLst/>
          </a:prstGeom>
          <a:noFill/>
          <a:ln w="50800">
            <a:solidFill>
              <a:srgbClr val="F6C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Progress tracking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See whether the mission is pending, running, completed, or failed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MAIN FEATURES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Alerts help farmers react before problems grow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731520" cy="0"/>
          </a:xfrm>
          <a:prstGeom prst="line">
            <a:avLst/>
          </a:prstGeom>
          <a:noFill/>
          <a:ln w="50800">
            <a:solidFill>
              <a:srgbClr val="35B8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Livestock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Flag animals outside an expected area or separated from the herd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731520" cy="0"/>
          </a:xfrm>
          <a:prstGeom prst="line">
            <a:avLst/>
          </a:prstGeom>
          <a:noFill/>
          <a:ln w="508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Security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Notice people or vehicles in restricted farm zones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49808" y="4251960"/>
            <a:ext cx="731520" cy="0"/>
          </a:xfrm>
          <a:prstGeom prst="line">
            <a:avLst/>
          </a:prstGeom>
          <a:noFill/>
          <a:ln w="50800">
            <a:solidFill>
              <a:srgbClr val="FF7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Operations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Detect low battery, lost connection, or mission interruption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00800" y="4251960"/>
            <a:ext cx="731520" cy="0"/>
          </a:xfrm>
          <a:prstGeom prst="line">
            <a:avLst/>
          </a:prstGeom>
          <a:noFill/>
          <a:ln w="50800">
            <a:solidFill>
              <a:srgbClr val="F6C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Evidence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Keep timestamped alert history for follow-up and accountability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MAIN FEATURES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vision adds an extra pair of eyes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731520" cy="0"/>
          </a:xfrm>
          <a:prstGeom prst="line">
            <a:avLst/>
          </a:prstGeom>
          <a:noFill/>
          <a:ln w="50800">
            <a:solidFill>
              <a:srgbClr val="35B8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Detection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Optional object detection for livestock, people, vehicles, or field objects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731520" cy="0"/>
          </a:xfrm>
          <a:prstGeom prst="line">
            <a:avLst/>
          </a:prstGeom>
          <a:noFill/>
          <a:ln w="508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Counting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Support visual confirmation when checking animals or assets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49808" y="4251960"/>
            <a:ext cx="731520" cy="0"/>
          </a:xfrm>
          <a:prstGeom prst="line">
            <a:avLst/>
          </a:prstGeom>
          <a:noFill/>
          <a:ln w="50800">
            <a:solidFill>
              <a:srgbClr val="FF7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Zone awareness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Connect detections to areas that matter on the farm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00800" y="4251960"/>
            <a:ext cx="731520" cy="0"/>
          </a:xfrm>
          <a:prstGeom prst="line">
            <a:avLst/>
          </a:prstGeom>
          <a:noFill/>
          <a:ln w="50800">
            <a:solidFill>
              <a:srgbClr val="F6C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Human control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AI supports decisions; the farmer still confirms what action to take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TARGET MARKET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buyers: farms that lose time in repeated field checks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Small farms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40280" y="2039112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2112" y="188366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1-2 drones for daily checks, alerts, and basic monitoring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7A59"/>
                </a:solidFill>
              </a:rPr>
              <a:t>Medium farms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3246120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309067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Several zones, multiple missions, livestock and crop monitoring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334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5B88F"/>
                </a:solidFill>
              </a:rPr>
              <a:t>Cooperatives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4453128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429768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Shared drone service across many farmers with centralized support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55229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i="1" dirty="0">
                <a:solidFill>
                  <a:srgbClr val="0E7C86"/>
                </a:solidFill>
              </a:rPr>
              <a:t>The customer is practical: they care about fewer unnecessary trips, faster reaction, and a system that does not require a full IT team.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TARGET MARKET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Tunisian agriculture gives us focused first use cases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Olive groves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40280" y="2039112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2112" y="188366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Tree health, irrigation checks, harvest preparation, perimeter monitoring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7A59"/>
                </a:solidFill>
              </a:rPr>
              <a:t>Date palms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3246120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309067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Large-area inspection, pest spotting, worker coordination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334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5B88F"/>
                </a:solidFill>
              </a:rPr>
              <a:t>Cereals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4453128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429768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Crop stress, dry patches, growth tracking, harvest readiness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55229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i="1" dirty="0">
                <a:solidFill>
                  <a:srgbClr val="0E7C86"/>
                </a:solidFill>
              </a:rPr>
              <a:t>The product can sound advanced, but the first value is simple: see more of the farm, more often.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TARGET MARKET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buyer ecosystem extends beyond one farmer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Direct customer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40280" y="2039112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2112" y="188366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Farm owners and managers who need visibility over their land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7A59"/>
                </a:solidFill>
              </a:rPr>
              <a:t>Service provider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3246120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309067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Drone operators offering monitoring as a service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334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5B88F"/>
                </a:solidFill>
              </a:rPr>
              <a:t>Institutional channel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4453128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429768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Cooperatives, training centers, smart-agriculture programs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55229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i="1" dirty="0">
                <a:solidFill>
                  <a:srgbClr val="0E7C86"/>
                </a:solidFill>
              </a:rPr>
              <a:t>This lets Maker Skills sell both directly and through trusted local organizations.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COMPETITIVE ADVANTAGE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AeroCommand is more farm-ready than generic drone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1828800" cy="658368"/>
          </a:xfrm>
          <a:prstGeom prst="rect">
            <a:avLst/>
          </a:prstGeom>
          <a:solidFill>
            <a:srgbClr val="102A4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01168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Criterion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87168" y="1828800"/>
            <a:ext cx="2560320" cy="658368"/>
          </a:xfrm>
          <a:prstGeom prst="rect">
            <a:avLst/>
          </a:prstGeom>
          <a:solidFill>
            <a:srgbClr val="102A4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96896" y="20116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Typical ground station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47488" y="1828800"/>
            <a:ext cx="2560320" cy="658368"/>
          </a:xfrm>
          <a:prstGeom prst="rect">
            <a:avLst/>
          </a:prstGeom>
          <a:solidFill>
            <a:srgbClr val="102A4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57216" y="20116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Generic drone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07808" y="1828800"/>
            <a:ext cx="3474720" cy="658368"/>
          </a:xfrm>
          <a:prstGeom prst="rect">
            <a:avLst/>
          </a:prstGeom>
          <a:solidFill>
            <a:srgbClr val="0E7C86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17536" y="20116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AeroCommand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487168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67004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Main user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487168" y="2487168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6896" y="26700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Pilot or technician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047488" y="2487168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26700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Consumer drone owner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607808" y="2487168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17536" y="267004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Farmer, cooperative, service team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8368" y="3145536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32841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Farm workflow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2487168" y="3145536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6896" y="33284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Manual setup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047488" y="3145536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33284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Limited scheduling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607808" y="3145536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17536" y="332841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Repeatable routes and alerts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58368" y="3803904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398678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Data access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2487168" y="3803904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96896" y="39867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Local session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047488" y="3803904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39867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Vendor dependent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607808" y="3803904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17536" y="3986784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Cloud history and mobile view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58368" y="4462272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464515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Support model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2487168" y="4462272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96896" y="46451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Technical user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047488" y="4462272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57216" y="46451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Online help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7607808" y="4462272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17536" y="464515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Local training and deployment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COMPETITIVE ADVANTAGE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advantage is simplicity, service, and local adaptation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1828800" cy="658368"/>
          </a:xfrm>
          <a:prstGeom prst="rect">
            <a:avLst/>
          </a:prstGeom>
          <a:solidFill>
            <a:srgbClr val="102A4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01168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87168" y="1828800"/>
            <a:ext cx="2560320" cy="658368"/>
          </a:xfrm>
          <a:prstGeom prst="rect">
            <a:avLst/>
          </a:prstGeom>
          <a:solidFill>
            <a:srgbClr val="102A4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96896" y="20116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Current habit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47488" y="1828800"/>
            <a:ext cx="2560320" cy="658368"/>
          </a:xfrm>
          <a:prstGeom prst="rect">
            <a:avLst/>
          </a:prstGeom>
          <a:solidFill>
            <a:srgbClr val="102A4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57216" y="20116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Risk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07808" y="1828800"/>
            <a:ext cx="3474720" cy="658368"/>
          </a:xfrm>
          <a:prstGeom prst="rect">
            <a:avLst/>
          </a:prstGeom>
          <a:solidFill>
            <a:srgbClr val="0E7C86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17536" y="20116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AeroCommand response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487168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67004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Daily inspection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487168" y="2487168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6896" y="26700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Walking or driving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047488" y="2487168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26700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Slow and incomplete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607808" y="2487168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17536" y="267004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Scheduled drone routes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8368" y="3145536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32841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Problem detection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2487168" y="3145536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6896" y="33284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Only after visible damage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047488" y="3145536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33284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Late reaction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607808" y="3145536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17536" y="332841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Alerts and camera evidence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58368" y="3803904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398678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Farm access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2487168" y="3803904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96896" y="39867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Owner must be present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047488" y="3803904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39867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Low visibility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607808" y="3803904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17536" y="3986784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Mobile dashboard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58368" y="4462272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464515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Adoption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2487168" y="4462272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96896" y="46451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Complex tech setup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047488" y="4462272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57216" y="46451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Low trust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7607808" y="4462272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17536" y="464515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Training and local support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BUSINESS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Product-as-a-service keeps the offer simple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865376"/>
            <a:ext cx="3017520" cy="2194560"/>
          </a:xfrm>
          <a:prstGeom prst="rect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0976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F6F2"/>
                </a:solidFill>
              </a:rPr>
              <a:t>1-2 drones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50976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</a:rPr>
              <a:t>Dashboard, mobile access, live map, basic telemetry history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407408" y="1865376"/>
            <a:ext cx="3017520" cy="2194560"/>
          </a:xfrm>
          <a:prstGeom prst="rect">
            <a:avLst/>
          </a:prstGeom>
          <a:solidFill>
            <a:srgbClr val="0E7C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08576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F6F2"/>
                </a:solidFill>
              </a:rPr>
              <a:t>3-10 drones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08576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</a:rPr>
              <a:t>Mission planning, alerts, AI detection, and priority support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065008" y="1865376"/>
            <a:ext cx="3017520" cy="2194560"/>
          </a:xfrm>
          <a:prstGeom prst="rect">
            <a:avLst/>
          </a:prstGeom>
          <a:solidFill>
            <a:srgbClr val="35B8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Cooperative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66176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F6F2"/>
                </a:solidFill>
              </a:rPr>
              <a:t>Shared service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66176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</a:rPr>
              <a:t>Multi-farm organization, training, custom support, SLA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60120" y="513892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5074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Setup and edge installation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4636008" y="513892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5074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Operator training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8311896" y="513892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13064" y="5074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Optional AI analytics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11987784" y="513892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88952" y="5074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Support and maintenance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BUSINESS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grows around the service, not only the software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865376"/>
            <a:ext cx="3017520" cy="2194560"/>
          </a:xfrm>
          <a:prstGeom prst="rect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Subscription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0976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F6F2"/>
                </a:solidFill>
              </a:rPr>
              <a:t>Recurring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50976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</a:rPr>
              <a:t>Dashboard, mobile app, telemetry history, alerts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407408" y="1865376"/>
            <a:ext cx="3017520" cy="2194560"/>
          </a:xfrm>
          <a:prstGeom prst="rect">
            <a:avLst/>
          </a:prstGeom>
          <a:solidFill>
            <a:srgbClr val="0E7C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Deployment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08576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F6F2"/>
                </a:solidFill>
              </a:rPr>
              <a:t>One-time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08576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</a:rPr>
              <a:t>Drone connection, edge agent setup, onboarding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065008" y="1865376"/>
            <a:ext cx="3017520" cy="2194560"/>
          </a:xfrm>
          <a:prstGeom prst="rect">
            <a:avLst/>
          </a:prstGeom>
          <a:solidFill>
            <a:srgbClr val="35B8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Add-ons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66176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F6F2"/>
                </a:solidFill>
              </a:rPr>
              <a:t>Optional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66176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</a:rPr>
              <a:t>AI detection, custom reports, extra users, integrations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60120" y="513892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5074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This makes pricing understandable for farmers and scalable for Maker Skills.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MARKETING STRATEGY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Sell through trust, demos, and local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</a:rPr>
              <a:t>Field demos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127248" y="18105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Show a real route over a farm and an alert on the phone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7A59"/>
                </a:solidFill>
              </a:rPr>
              <a:t>Cooperatives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27248" y="27706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Use trusted local groups to reach farmers faster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5B88F"/>
                </a:solidFill>
              </a:rPr>
              <a:t>Drone sellers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127248" y="373075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Bundle AeroCommand as the software layer for farm customers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Events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27248" y="469087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Agricultural expos, university incubators, smart agriculture programs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1248" y="5650992"/>
            <a:ext cx="9966960" cy="0"/>
          </a:xfrm>
          <a:prstGeom prst="line">
            <a:avLst/>
          </a:prstGeom>
          <a:noFill/>
          <a:ln w="27940">
            <a:solidFill>
              <a:srgbClr val="F6C8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MARKETING STRATEGY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 marketing should show real farm value fast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</a:rPr>
              <a:t>Facebook groups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127248" y="18105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Short clips: field route, live map, alert, result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7A59"/>
                </a:solidFill>
              </a:rPr>
              <a:t>Before / after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27248" y="27706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Manual inspection vs. drone-assisted monitoring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5B88F"/>
                </a:solidFill>
              </a:rPr>
              <a:t>Farmer stories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127248" y="373075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Use simple cases: dry zone found, fence checked, herd located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B2B outreach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27248" y="469087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LinkedIn and direct visits for cooperatives and service providers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1248" y="5650992"/>
            <a:ext cx="9966960" cy="0"/>
          </a:xfrm>
          <a:prstGeom prst="line">
            <a:avLst/>
          </a:prstGeom>
          <a:noFill/>
          <a:ln w="27940">
            <a:solidFill>
              <a:srgbClr val="F6C8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DEMO / VISUALS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Demo: from farm map to operational decision</a:t>
            </a:r>
            <a:endParaRPr lang="en-US" sz="3000" dirty="0"/>
          </a:p>
        </p:txBody>
      </p:sp>
      <p:pic>
        <p:nvPicPr>
          <p:cNvPr id="4" name="Image 0" descr="C:\Web_UI\pi_group\dashboard\public\landing\scree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27632"/>
            <a:ext cx="498348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" y="1627632"/>
            <a:ext cx="4983480" cy="3017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4E8"/>
            </a:solidFill>
            <a:prstDash val="solid"/>
          </a:ln>
        </p:spPr>
      </p:sp>
      <p:pic>
        <p:nvPicPr>
          <p:cNvPr id="6" name="Image 1" descr="C:\Web_UI\pi_group\dashboard\public\landing\scree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27632"/>
            <a:ext cx="4983480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55080" y="1627632"/>
            <a:ext cx="4983480" cy="3017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4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49808" y="4791456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</a:rPr>
              <a:t>Operations dashboard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55080" y="4791456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</a:rPr>
              <a:t>Smart farming product page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188720" y="55138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298448" y="5586984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Live fleet status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590288" y="55138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00016" y="5586984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Farm route planning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991856" y="55138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01584" y="5586984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A59"/>
                </a:solidFill>
              </a:rPr>
              <a:t>Mobile + web access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1" name="Text 17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DEMO / VISUALS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storyline for the presentation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731520" cy="0"/>
          </a:xfrm>
          <a:prstGeom prst="line">
            <a:avLst/>
          </a:prstGeom>
          <a:noFill/>
          <a:ln w="50800">
            <a:solidFill>
              <a:srgbClr val="35B8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Step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Open the dashboard and select the farm vehicle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731520" cy="0"/>
          </a:xfrm>
          <a:prstGeom prst="line">
            <a:avLst/>
          </a:prstGeom>
          <a:noFill/>
          <a:ln w="508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Step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Show location, battery, and telemetry on the live map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49808" y="4251960"/>
            <a:ext cx="731520" cy="0"/>
          </a:xfrm>
          <a:prstGeom prst="line">
            <a:avLst/>
          </a:prstGeom>
          <a:noFill/>
          <a:ln w="50800">
            <a:solidFill>
              <a:srgbClr val="FF7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Step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Launch or review a monitoring mission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00800" y="4251960"/>
            <a:ext cx="731520" cy="0"/>
          </a:xfrm>
          <a:prstGeom prst="line">
            <a:avLst/>
          </a:prstGeom>
          <a:noFill/>
          <a:ln w="50800">
            <a:solidFill>
              <a:srgbClr val="F6C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Step 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Show an alert and explain what action the farmer takes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DEPLOYMENT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installation looks like for a farm customer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682496" y="1920240"/>
            <a:ext cx="960120" cy="9601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21488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49808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Connect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35661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07083"/>
                </a:solidFill>
              </a:rPr>
              <a:t>Pair drone or robot telemetry with the edge agent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3108960" y="2395728"/>
            <a:ext cx="1005840" cy="0"/>
          </a:xfrm>
          <a:prstGeom prst="line">
            <a:avLst/>
          </a:prstGeom>
          <a:noFill/>
          <a:ln w="25400">
            <a:solidFill>
              <a:srgbClr val="D8E4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30368" y="1920240"/>
            <a:ext cx="960120" cy="960120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13832" y="21488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297680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Configure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35661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07083"/>
                </a:solidFill>
              </a:rPr>
              <a:t>Create farm zones, routes, users, and alert rules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656832" y="2395728"/>
            <a:ext cx="1005840" cy="0"/>
          </a:xfrm>
          <a:prstGeom prst="line">
            <a:avLst/>
          </a:prstGeom>
          <a:noFill/>
          <a:ln w="25400">
            <a:solidFill>
              <a:srgbClr val="D8E4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78240" y="1920240"/>
            <a:ext cx="960120" cy="96012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1704" y="21488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45552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Train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45552" y="35661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07083"/>
                </a:solidFill>
              </a:rPr>
              <a:t>Teach the farmer or operator the daily workflow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914400" y="4919472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992624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Setup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43400" y="4919472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4992624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Training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0" y="4919472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2128" y="4992624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Support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14400" y="5394960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5468112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Updates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43400" y="5394960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53128" y="5468112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Maintenance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72400" y="5394960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2128" y="5468112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Reports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IMPACT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business promise is practical, not futuristic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731520" cy="0"/>
          </a:xfrm>
          <a:prstGeom prst="line">
            <a:avLst/>
          </a:prstGeom>
          <a:noFill/>
          <a:ln w="50800">
            <a:solidFill>
              <a:srgbClr val="35B8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Less wasted 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Reduce repeated manual checks across the same routes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731520" cy="0"/>
          </a:xfrm>
          <a:prstGeom prst="line">
            <a:avLst/>
          </a:prstGeom>
          <a:noFill/>
          <a:ln w="508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Faster reaction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Find field problems before they become bigger losses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49808" y="4251960"/>
            <a:ext cx="731520" cy="0"/>
          </a:xfrm>
          <a:prstGeom prst="line">
            <a:avLst/>
          </a:prstGeom>
          <a:noFill/>
          <a:ln w="50800">
            <a:solidFill>
              <a:srgbClr val="FF7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Better coordination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Give workers clearer information before they go on-site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00800" y="4251960"/>
            <a:ext cx="731520" cy="0"/>
          </a:xfrm>
          <a:prstGeom prst="line">
            <a:avLst/>
          </a:prstGeom>
          <a:noFill/>
          <a:ln w="50800">
            <a:solidFill>
              <a:srgbClr val="F6C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More confidence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Keep visibility over remote zones even when the owner is away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 make the farm value stronger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Short term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40280" y="2039112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2112" y="188366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Polish dashboard demo, mobile alerts, and mission workflows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7A59"/>
                </a:solidFill>
              </a:rPr>
              <a:t>Pilot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3246120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309067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Run controlled farm demonstrations with one or two local partners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334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5B88F"/>
                </a:solidFill>
              </a:rPr>
              <a:t>Expansion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4453128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429768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Add farm reports, AI detection tuning, and cooperative management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55229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i="1" dirty="0">
                <a:solidFill>
                  <a:srgbClr val="0E7C86"/>
                </a:solidFill>
              </a:rPr>
              <a:t>The goal is to prove value in the field before scaling the commercial offer.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5240">
            <a:solidFill>
              <a:srgbClr val="DBEEE8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6355080"/>
            <a:ext cx="1463040" cy="-320040"/>
          </a:xfrm>
          <a:prstGeom prst="line">
            <a:avLst/>
          </a:prstGeom>
          <a:noFill/>
          <a:ln w="13970">
            <a:solidFill>
              <a:srgbClr val="35B88F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6355080"/>
            <a:ext cx="1737360" cy="-320040"/>
          </a:xfrm>
          <a:prstGeom prst="line">
            <a:avLst/>
          </a:prstGeom>
          <a:noFill/>
          <a:ln w="12700">
            <a:solidFill>
              <a:srgbClr val="0E7C86">
                <a:alpha val="6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6355080"/>
            <a:ext cx="2011680" cy="-320040"/>
          </a:xfrm>
          <a:prstGeom prst="line">
            <a:avLst/>
          </a:prstGeom>
          <a:noFill/>
          <a:ln w="11430">
            <a:solidFill>
              <a:srgbClr val="F6C85F">
                <a:alpha val="5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9E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CONCLUSION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AeroCommand helps farmers see more, sooner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68680" y="2331720"/>
            <a:ext cx="914400" cy="0"/>
          </a:xfrm>
          <a:prstGeom prst="line">
            <a:avLst/>
          </a:prstGeom>
          <a:noFill/>
          <a:ln w="50800">
            <a:solidFill>
              <a:srgbClr val="FF7A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816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8E8EC"/>
                </a:solidFill>
              </a:rPr>
              <a:t>Farmers lose time and money when field information arrives late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4572000" y="2331720"/>
            <a:ext cx="914400" cy="0"/>
          </a:xfrm>
          <a:prstGeom prst="line">
            <a:avLst/>
          </a:prstGeom>
          <a:noFill/>
          <a:ln w="50800">
            <a:solidFill>
              <a:srgbClr val="B9E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816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Solution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3291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8E8EC"/>
                </a:solidFill>
              </a:rPr>
              <a:t>Drone monitoring with live maps, missions, alerts, and mobile access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275320" y="2331720"/>
            <a:ext cx="914400" cy="0"/>
          </a:xfrm>
          <a:prstGeom prst="line">
            <a:avLst/>
          </a:prstGeom>
          <a:noFill/>
          <a:ln w="50800">
            <a:solidFill>
              <a:srgbClr val="35B8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816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Why it matters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5320" y="3291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8E8EC"/>
                </a:solidFill>
              </a:rPr>
              <a:t>More visibility, faster reaction, and a practical path to smart agriculture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5C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B5C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6492240" y="-1828800"/>
            <a:ext cx="6583680" cy="6583680"/>
          </a:xfrm>
          <a:prstGeom prst="arc">
            <a:avLst/>
          </a:prstGeom>
          <a:solidFill>
            <a:srgbClr val="0E7C86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" name="Image 0" descr="C:\Web_UI\pi_group\dashboard\public\landing\logos\makerski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30352"/>
            <a:ext cx="114300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554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B9E769"/>
                </a:solidFill>
              </a:rPr>
              <a:t>11. Q&amp;A</a:t>
            </a:r>
            <a:endParaRPr lang="en-US" sz="98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 for your attention.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58368" y="3246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8E8EC"/>
                </a:solidFill>
              </a:rPr>
              <a:t>Do you have any questions?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5989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5C8D0"/>
                </a:solidFill>
              </a:rPr>
              <a:t>AeroCommand by Maker Skills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Maker 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AeroCommand Commercial Presentation</dc:title>
  <dc:subject>Commercial presentation for AeroCommand</dc:subject>
  <dc:creator>Maker Skills</dc:creator>
  <cp:lastModifiedBy>Maker Skills</cp:lastModifiedBy>
  <cp:revision>1</cp:revision>
  <dcterms:created xsi:type="dcterms:W3CDTF">2026-05-10T09:41:46Z</dcterms:created>
  <dcterms:modified xsi:type="dcterms:W3CDTF">2026-05-10T09:41:46Z</dcterms:modified>
</cp:coreProperties>
</file>